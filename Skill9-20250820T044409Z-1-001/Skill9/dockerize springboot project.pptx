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20" r:id="rId2"/>
    <p:sldId id="283" r:id="rId3"/>
    <p:sldId id="284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5" r:id="rId12"/>
    <p:sldId id="312" r:id="rId13"/>
    <p:sldId id="296" r:id="rId14"/>
    <p:sldId id="32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89B045-4DBA-4C87-B4FB-B9EA3CBDD8F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A3791E-0663-43FF-8706-9C6222250019}">
      <dgm:prSet/>
      <dgm:spPr/>
      <dgm:t>
        <a:bodyPr/>
        <a:lstStyle/>
        <a:p>
          <a:r>
            <a:rPr lang="en-US" dirty="0"/>
            <a:t>A </a:t>
          </a:r>
          <a:r>
            <a:rPr lang="en-US" dirty="0" err="1"/>
            <a:t>Dockerfile</a:t>
          </a:r>
          <a:r>
            <a:rPr lang="en-US" dirty="0"/>
            <a:t> is a text-based document that's used to create a container image.</a:t>
          </a:r>
        </a:p>
      </dgm:t>
    </dgm:pt>
    <dgm:pt modelId="{4C06B4FA-7340-4943-A62E-45C593E945B6}" type="parTrans" cxnId="{46A83141-C69A-4C5E-99ED-6B32C934639C}">
      <dgm:prSet/>
      <dgm:spPr/>
      <dgm:t>
        <a:bodyPr/>
        <a:lstStyle/>
        <a:p>
          <a:endParaRPr lang="en-US"/>
        </a:p>
      </dgm:t>
    </dgm:pt>
    <dgm:pt modelId="{989E9681-E1AC-4E70-8A08-54D069FA9496}" type="sibTrans" cxnId="{46A83141-C69A-4C5E-99ED-6B32C934639C}">
      <dgm:prSet/>
      <dgm:spPr/>
      <dgm:t>
        <a:bodyPr/>
        <a:lstStyle/>
        <a:p>
          <a:endParaRPr lang="en-US"/>
        </a:p>
      </dgm:t>
    </dgm:pt>
    <dgm:pt modelId="{BBBEE79A-D500-49D1-8E57-7D6E14CDBFD4}">
      <dgm:prSet/>
      <dgm:spPr/>
      <dgm:t>
        <a:bodyPr/>
        <a:lstStyle/>
        <a:p>
          <a:r>
            <a:rPr lang="en-US"/>
            <a:t>It provides instructions to the image builder on the commands to run, files to copy, startup command, and more.</a:t>
          </a:r>
        </a:p>
      </dgm:t>
    </dgm:pt>
    <dgm:pt modelId="{30340635-D36C-4205-8002-3E56C2C55ADC}" type="parTrans" cxnId="{B7D7C8F8-7A8D-4240-83ED-41617DB41392}">
      <dgm:prSet/>
      <dgm:spPr/>
      <dgm:t>
        <a:bodyPr/>
        <a:lstStyle/>
        <a:p>
          <a:endParaRPr lang="en-US"/>
        </a:p>
      </dgm:t>
    </dgm:pt>
    <dgm:pt modelId="{7E59AB8A-A9DF-453B-B8DB-AC97D0162306}" type="sibTrans" cxnId="{B7D7C8F8-7A8D-4240-83ED-41617DB41392}">
      <dgm:prSet/>
      <dgm:spPr/>
      <dgm:t>
        <a:bodyPr/>
        <a:lstStyle/>
        <a:p>
          <a:endParaRPr lang="en-US"/>
        </a:p>
      </dgm:t>
    </dgm:pt>
    <dgm:pt modelId="{A6FB5D22-F974-4BC9-86F2-FF56B9CF7C2C}" type="pres">
      <dgm:prSet presAssocID="{A989B045-4DBA-4C87-B4FB-B9EA3CBDD8FE}" presName="linear" presStyleCnt="0">
        <dgm:presLayoutVars>
          <dgm:animLvl val="lvl"/>
          <dgm:resizeHandles val="exact"/>
        </dgm:presLayoutVars>
      </dgm:prSet>
      <dgm:spPr/>
    </dgm:pt>
    <dgm:pt modelId="{E98E222B-002E-46AE-B807-BA452BE293AE}" type="pres">
      <dgm:prSet presAssocID="{95A3791E-0663-43FF-8706-9C62222500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F1A1742-24D6-4A11-A04A-2C316E5549CA}" type="pres">
      <dgm:prSet presAssocID="{989E9681-E1AC-4E70-8A08-54D069FA9496}" presName="spacer" presStyleCnt="0"/>
      <dgm:spPr/>
    </dgm:pt>
    <dgm:pt modelId="{D521759B-4E6C-4699-A9CA-0377A61E3184}" type="pres">
      <dgm:prSet presAssocID="{BBBEE79A-D500-49D1-8E57-7D6E14CDBFD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6A83141-C69A-4C5E-99ED-6B32C934639C}" srcId="{A989B045-4DBA-4C87-B4FB-B9EA3CBDD8FE}" destId="{95A3791E-0663-43FF-8706-9C6222250019}" srcOrd="0" destOrd="0" parTransId="{4C06B4FA-7340-4943-A62E-45C593E945B6}" sibTransId="{989E9681-E1AC-4E70-8A08-54D069FA9496}"/>
    <dgm:cxn modelId="{D31F4852-8326-44F1-8962-6684F91D58F5}" type="presOf" srcId="{95A3791E-0663-43FF-8706-9C6222250019}" destId="{E98E222B-002E-46AE-B807-BA452BE293AE}" srcOrd="0" destOrd="0" presId="urn:microsoft.com/office/officeart/2005/8/layout/vList2"/>
    <dgm:cxn modelId="{3FED9558-361B-4004-8AEA-DF64646C1A1B}" type="presOf" srcId="{A989B045-4DBA-4C87-B4FB-B9EA3CBDD8FE}" destId="{A6FB5D22-F974-4BC9-86F2-FF56B9CF7C2C}" srcOrd="0" destOrd="0" presId="urn:microsoft.com/office/officeart/2005/8/layout/vList2"/>
    <dgm:cxn modelId="{414FC8BF-47AF-493A-8CC1-C0DD57382938}" type="presOf" srcId="{BBBEE79A-D500-49D1-8E57-7D6E14CDBFD4}" destId="{D521759B-4E6C-4699-A9CA-0377A61E3184}" srcOrd="0" destOrd="0" presId="urn:microsoft.com/office/officeart/2005/8/layout/vList2"/>
    <dgm:cxn modelId="{B7D7C8F8-7A8D-4240-83ED-41617DB41392}" srcId="{A989B045-4DBA-4C87-B4FB-B9EA3CBDD8FE}" destId="{BBBEE79A-D500-49D1-8E57-7D6E14CDBFD4}" srcOrd="1" destOrd="0" parTransId="{30340635-D36C-4205-8002-3E56C2C55ADC}" sibTransId="{7E59AB8A-A9DF-453B-B8DB-AC97D0162306}"/>
    <dgm:cxn modelId="{CC872E44-AFD8-4E3D-A5DE-014EAB5A727C}" type="presParOf" srcId="{A6FB5D22-F974-4BC9-86F2-FF56B9CF7C2C}" destId="{E98E222B-002E-46AE-B807-BA452BE293AE}" srcOrd="0" destOrd="0" presId="urn:microsoft.com/office/officeart/2005/8/layout/vList2"/>
    <dgm:cxn modelId="{8373711C-DFD3-4741-91A3-BF23488CA183}" type="presParOf" srcId="{A6FB5D22-F974-4BC9-86F2-FF56B9CF7C2C}" destId="{3F1A1742-24D6-4A11-A04A-2C316E5549CA}" srcOrd="1" destOrd="0" presId="urn:microsoft.com/office/officeart/2005/8/layout/vList2"/>
    <dgm:cxn modelId="{2ADF4779-6130-46FB-8C60-C07445051085}" type="presParOf" srcId="{A6FB5D22-F974-4BC9-86F2-FF56B9CF7C2C}" destId="{D521759B-4E6C-4699-A9CA-0377A61E318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D91834-5E05-430E-9B0D-7D4ED15FB3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1264E6-BDAF-4179-8F67-53A14CD5DD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</a:t>
          </a:r>
          <a:r>
            <a:rPr lang="en-US" dirty="0" err="1"/>
            <a:t>Dockerfile</a:t>
          </a:r>
          <a:r>
            <a:rPr lang="en-US" dirty="0"/>
            <a:t> contains simple instructions, where each instruction performs a specific action.</a:t>
          </a:r>
        </a:p>
      </dgm:t>
    </dgm:pt>
    <dgm:pt modelId="{A0846408-B356-4C50-BEBE-9DA8CD9D0C09}" type="parTrans" cxnId="{472169C0-ACEA-44C4-B525-691245C9D35C}">
      <dgm:prSet/>
      <dgm:spPr/>
      <dgm:t>
        <a:bodyPr/>
        <a:lstStyle/>
        <a:p>
          <a:endParaRPr lang="en-US"/>
        </a:p>
      </dgm:t>
    </dgm:pt>
    <dgm:pt modelId="{17FC6968-7BF1-4E10-B1C5-7D9D470EFC62}" type="sibTrans" cxnId="{472169C0-ACEA-44C4-B525-691245C9D35C}">
      <dgm:prSet/>
      <dgm:spPr/>
      <dgm:t>
        <a:bodyPr/>
        <a:lstStyle/>
        <a:p>
          <a:endParaRPr lang="en-US"/>
        </a:p>
      </dgm:t>
    </dgm:pt>
    <dgm:pt modelId="{95E03A2C-8203-4744-8184-9E77C7E819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Instructions like FROM, COPY, RUN, and CMD are case-sensitive and written in uppercase.</a:t>
          </a:r>
        </a:p>
      </dgm:t>
    </dgm:pt>
    <dgm:pt modelId="{1D183103-FB4E-42BD-8D9C-565C8549D5DB}" type="parTrans" cxnId="{00945C3A-BDE7-4A62-B27E-DEA1DCA98B0F}">
      <dgm:prSet/>
      <dgm:spPr/>
      <dgm:t>
        <a:bodyPr/>
        <a:lstStyle/>
        <a:p>
          <a:endParaRPr lang="en-US"/>
        </a:p>
      </dgm:t>
    </dgm:pt>
    <dgm:pt modelId="{69E4973D-9305-44BD-9D75-421B2B4270B0}" type="sibTrans" cxnId="{00945C3A-BDE7-4A62-B27E-DEA1DCA98B0F}">
      <dgm:prSet/>
      <dgm:spPr/>
      <dgm:t>
        <a:bodyPr/>
        <a:lstStyle/>
        <a:p>
          <a:endParaRPr lang="en-US"/>
        </a:p>
      </dgm:t>
    </dgm:pt>
    <dgm:pt modelId="{23C20A3C-85D1-419F-BD85-A3396007E6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Each instruction creates a new layer in the Docker image.</a:t>
          </a:r>
        </a:p>
      </dgm:t>
    </dgm:pt>
    <dgm:pt modelId="{15E4DA52-511B-4465-A563-1E82B62B47D9}" type="parTrans" cxnId="{D10FEB80-F36A-40A3-8767-B941EFB45459}">
      <dgm:prSet/>
      <dgm:spPr/>
      <dgm:t>
        <a:bodyPr/>
        <a:lstStyle/>
        <a:p>
          <a:endParaRPr lang="en-US"/>
        </a:p>
      </dgm:t>
    </dgm:pt>
    <dgm:pt modelId="{A2167DC9-CDF0-4C97-AB44-9BF12E60E96E}" type="sibTrans" cxnId="{D10FEB80-F36A-40A3-8767-B941EFB45459}">
      <dgm:prSet/>
      <dgm:spPr/>
      <dgm:t>
        <a:bodyPr/>
        <a:lstStyle/>
        <a:p>
          <a:endParaRPr lang="en-US"/>
        </a:p>
      </dgm:t>
    </dgm:pt>
    <dgm:pt modelId="{DC0A0DE8-AD28-42E3-A9A2-574AB61E2BD4}" type="pres">
      <dgm:prSet presAssocID="{00D91834-5E05-430E-9B0D-7D4ED15FB3E6}" presName="root" presStyleCnt="0">
        <dgm:presLayoutVars>
          <dgm:dir/>
          <dgm:resizeHandles val="exact"/>
        </dgm:presLayoutVars>
      </dgm:prSet>
      <dgm:spPr/>
    </dgm:pt>
    <dgm:pt modelId="{643DA25A-7410-4E40-8973-1D1A94602796}" type="pres">
      <dgm:prSet presAssocID="{A11264E6-BDAF-4179-8F67-53A14CD5DDCC}" presName="compNode" presStyleCnt="0"/>
      <dgm:spPr/>
    </dgm:pt>
    <dgm:pt modelId="{0E3D106B-3E27-47DA-9223-233D0DC74F46}" type="pres">
      <dgm:prSet presAssocID="{A11264E6-BDAF-4179-8F67-53A14CD5DDCC}" presName="bgRect" presStyleLbl="bgShp" presStyleIdx="0" presStyleCnt="3"/>
      <dgm:spPr/>
    </dgm:pt>
    <dgm:pt modelId="{2B44B690-8FBB-42B2-B924-01ACE2349B87}" type="pres">
      <dgm:prSet presAssocID="{A11264E6-BDAF-4179-8F67-53A14CD5DD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7992CE16-CB35-49BC-B2B3-581E52F107C0}" type="pres">
      <dgm:prSet presAssocID="{A11264E6-BDAF-4179-8F67-53A14CD5DDCC}" presName="spaceRect" presStyleCnt="0"/>
      <dgm:spPr/>
    </dgm:pt>
    <dgm:pt modelId="{74103DE6-2398-46B4-B86C-4C9D430A4685}" type="pres">
      <dgm:prSet presAssocID="{A11264E6-BDAF-4179-8F67-53A14CD5DDCC}" presName="parTx" presStyleLbl="revTx" presStyleIdx="0" presStyleCnt="3">
        <dgm:presLayoutVars>
          <dgm:chMax val="0"/>
          <dgm:chPref val="0"/>
        </dgm:presLayoutVars>
      </dgm:prSet>
      <dgm:spPr/>
    </dgm:pt>
    <dgm:pt modelId="{07C4FDAA-1364-4500-81A4-CCF1EE932E7F}" type="pres">
      <dgm:prSet presAssocID="{17FC6968-7BF1-4E10-B1C5-7D9D470EFC62}" presName="sibTrans" presStyleCnt="0"/>
      <dgm:spPr/>
    </dgm:pt>
    <dgm:pt modelId="{D44C9930-E762-4D1B-8A36-FD0F876B626B}" type="pres">
      <dgm:prSet presAssocID="{95E03A2C-8203-4744-8184-9E77C7E8192C}" presName="compNode" presStyleCnt="0"/>
      <dgm:spPr/>
    </dgm:pt>
    <dgm:pt modelId="{D07470CA-2569-4428-873D-7CB96D9C172E}" type="pres">
      <dgm:prSet presAssocID="{95E03A2C-8203-4744-8184-9E77C7E8192C}" presName="bgRect" presStyleLbl="bgShp" presStyleIdx="1" presStyleCnt="3"/>
      <dgm:spPr/>
    </dgm:pt>
    <dgm:pt modelId="{838B8928-9971-49D1-897F-7502130F104F}" type="pres">
      <dgm:prSet presAssocID="{95E03A2C-8203-4744-8184-9E77C7E819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AFFA8E6A-4835-4B4F-8DE0-D6BB590272CE}" type="pres">
      <dgm:prSet presAssocID="{95E03A2C-8203-4744-8184-9E77C7E8192C}" presName="spaceRect" presStyleCnt="0"/>
      <dgm:spPr/>
    </dgm:pt>
    <dgm:pt modelId="{0AB7128B-48E9-4119-A626-C71243169F41}" type="pres">
      <dgm:prSet presAssocID="{95E03A2C-8203-4744-8184-9E77C7E8192C}" presName="parTx" presStyleLbl="revTx" presStyleIdx="1" presStyleCnt="3">
        <dgm:presLayoutVars>
          <dgm:chMax val="0"/>
          <dgm:chPref val="0"/>
        </dgm:presLayoutVars>
      </dgm:prSet>
      <dgm:spPr/>
    </dgm:pt>
    <dgm:pt modelId="{62064E06-5597-49B5-A792-CDCE9EEE8A42}" type="pres">
      <dgm:prSet presAssocID="{69E4973D-9305-44BD-9D75-421B2B4270B0}" presName="sibTrans" presStyleCnt="0"/>
      <dgm:spPr/>
    </dgm:pt>
    <dgm:pt modelId="{4E080C24-DD50-4296-996B-C987C6D07A25}" type="pres">
      <dgm:prSet presAssocID="{23C20A3C-85D1-419F-BD85-A3396007E6EB}" presName="compNode" presStyleCnt="0"/>
      <dgm:spPr/>
    </dgm:pt>
    <dgm:pt modelId="{4518D00A-249C-4B06-9A13-F74C08C091DF}" type="pres">
      <dgm:prSet presAssocID="{23C20A3C-85D1-419F-BD85-A3396007E6EB}" presName="bgRect" presStyleLbl="bgShp" presStyleIdx="2" presStyleCnt="3"/>
      <dgm:spPr/>
    </dgm:pt>
    <dgm:pt modelId="{57A3D039-0FB5-49E4-A27F-6D97F4B0822B}" type="pres">
      <dgm:prSet presAssocID="{23C20A3C-85D1-419F-BD85-A3396007E6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6615E57-D470-4D74-9780-0CABD4E2AAE1}" type="pres">
      <dgm:prSet presAssocID="{23C20A3C-85D1-419F-BD85-A3396007E6EB}" presName="spaceRect" presStyleCnt="0"/>
      <dgm:spPr/>
    </dgm:pt>
    <dgm:pt modelId="{12B77A71-E3CC-460D-9263-917D9F1FF6DF}" type="pres">
      <dgm:prSet presAssocID="{23C20A3C-85D1-419F-BD85-A3396007E6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012307-0910-4394-9F1B-A92C849AA90F}" type="presOf" srcId="{95E03A2C-8203-4744-8184-9E77C7E8192C}" destId="{0AB7128B-48E9-4119-A626-C71243169F41}" srcOrd="0" destOrd="0" presId="urn:microsoft.com/office/officeart/2018/2/layout/IconVerticalSolidList"/>
    <dgm:cxn modelId="{00945C3A-BDE7-4A62-B27E-DEA1DCA98B0F}" srcId="{00D91834-5E05-430E-9B0D-7D4ED15FB3E6}" destId="{95E03A2C-8203-4744-8184-9E77C7E8192C}" srcOrd="1" destOrd="0" parTransId="{1D183103-FB4E-42BD-8D9C-565C8549D5DB}" sibTransId="{69E4973D-9305-44BD-9D75-421B2B4270B0}"/>
    <dgm:cxn modelId="{4DEB993C-110A-47EE-81A4-CA1F2F5017E7}" type="presOf" srcId="{23C20A3C-85D1-419F-BD85-A3396007E6EB}" destId="{12B77A71-E3CC-460D-9263-917D9F1FF6DF}" srcOrd="0" destOrd="0" presId="urn:microsoft.com/office/officeart/2018/2/layout/IconVerticalSolidList"/>
    <dgm:cxn modelId="{D10FEB80-F36A-40A3-8767-B941EFB45459}" srcId="{00D91834-5E05-430E-9B0D-7D4ED15FB3E6}" destId="{23C20A3C-85D1-419F-BD85-A3396007E6EB}" srcOrd="2" destOrd="0" parTransId="{15E4DA52-511B-4465-A563-1E82B62B47D9}" sibTransId="{A2167DC9-CDF0-4C97-AB44-9BF12E60E96E}"/>
    <dgm:cxn modelId="{3CE121BA-CC78-4692-B2E4-D1EFEE7502F9}" type="presOf" srcId="{00D91834-5E05-430E-9B0D-7D4ED15FB3E6}" destId="{DC0A0DE8-AD28-42E3-A9A2-574AB61E2BD4}" srcOrd="0" destOrd="0" presId="urn:microsoft.com/office/officeart/2018/2/layout/IconVerticalSolidList"/>
    <dgm:cxn modelId="{472169C0-ACEA-44C4-B525-691245C9D35C}" srcId="{00D91834-5E05-430E-9B0D-7D4ED15FB3E6}" destId="{A11264E6-BDAF-4179-8F67-53A14CD5DDCC}" srcOrd="0" destOrd="0" parTransId="{A0846408-B356-4C50-BEBE-9DA8CD9D0C09}" sibTransId="{17FC6968-7BF1-4E10-B1C5-7D9D470EFC62}"/>
    <dgm:cxn modelId="{DEE33BD9-BE8D-46A8-99B0-78793F63221D}" type="presOf" srcId="{A11264E6-BDAF-4179-8F67-53A14CD5DDCC}" destId="{74103DE6-2398-46B4-B86C-4C9D430A4685}" srcOrd="0" destOrd="0" presId="urn:microsoft.com/office/officeart/2018/2/layout/IconVerticalSolidList"/>
    <dgm:cxn modelId="{CA7AA74E-76BA-4029-BA79-69CCE89C3052}" type="presParOf" srcId="{DC0A0DE8-AD28-42E3-A9A2-574AB61E2BD4}" destId="{643DA25A-7410-4E40-8973-1D1A94602796}" srcOrd="0" destOrd="0" presId="urn:microsoft.com/office/officeart/2018/2/layout/IconVerticalSolidList"/>
    <dgm:cxn modelId="{C79457CF-75D6-4D98-BED9-5ED3F2C01E84}" type="presParOf" srcId="{643DA25A-7410-4E40-8973-1D1A94602796}" destId="{0E3D106B-3E27-47DA-9223-233D0DC74F46}" srcOrd="0" destOrd="0" presId="urn:microsoft.com/office/officeart/2018/2/layout/IconVerticalSolidList"/>
    <dgm:cxn modelId="{2CD96AA3-0D41-413B-9214-5EAFB0DD50A0}" type="presParOf" srcId="{643DA25A-7410-4E40-8973-1D1A94602796}" destId="{2B44B690-8FBB-42B2-B924-01ACE2349B87}" srcOrd="1" destOrd="0" presId="urn:microsoft.com/office/officeart/2018/2/layout/IconVerticalSolidList"/>
    <dgm:cxn modelId="{5799EDD9-7D81-4F09-9267-AD71CA190E64}" type="presParOf" srcId="{643DA25A-7410-4E40-8973-1D1A94602796}" destId="{7992CE16-CB35-49BC-B2B3-581E52F107C0}" srcOrd="2" destOrd="0" presId="urn:microsoft.com/office/officeart/2018/2/layout/IconVerticalSolidList"/>
    <dgm:cxn modelId="{24FD2A50-AEF4-4CEB-A04A-3E84FA5D1209}" type="presParOf" srcId="{643DA25A-7410-4E40-8973-1D1A94602796}" destId="{74103DE6-2398-46B4-B86C-4C9D430A4685}" srcOrd="3" destOrd="0" presId="urn:microsoft.com/office/officeart/2018/2/layout/IconVerticalSolidList"/>
    <dgm:cxn modelId="{4AFED345-60DA-40AE-9946-403E00595041}" type="presParOf" srcId="{DC0A0DE8-AD28-42E3-A9A2-574AB61E2BD4}" destId="{07C4FDAA-1364-4500-81A4-CCF1EE932E7F}" srcOrd="1" destOrd="0" presId="urn:microsoft.com/office/officeart/2018/2/layout/IconVerticalSolidList"/>
    <dgm:cxn modelId="{B6FC5026-6B95-49DE-9159-C9DFE2E41F92}" type="presParOf" srcId="{DC0A0DE8-AD28-42E3-A9A2-574AB61E2BD4}" destId="{D44C9930-E762-4D1B-8A36-FD0F876B626B}" srcOrd="2" destOrd="0" presId="urn:microsoft.com/office/officeart/2018/2/layout/IconVerticalSolidList"/>
    <dgm:cxn modelId="{B0CFABA2-944D-418A-9FC4-1C77F8D165C2}" type="presParOf" srcId="{D44C9930-E762-4D1B-8A36-FD0F876B626B}" destId="{D07470CA-2569-4428-873D-7CB96D9C172E}" srcOrd="0" destOrd="0" presId="urn:microsoft.com/office/officeart/2018/2/layout/IconVerticalSolidList"/>
    <dgm:cxn modelId="{5307D2D3-5927-4152-A832-84AE9F88DB8B}" type="presParOf" srcId="{D44C9930-E762-4D1B-8A36-FD0F876B626B}" destId="{838B8928-9971-49D1-897F-7502130F104F}" srcOrd="1" destOrd="0" presId="urn:microsoft.com/office/officeart/2018/2/layout/IconVerticalSolidList"/>
    <dgm:cxn modelId="{7AA567EC-C76D-4B5C-9DB0-51EC48C34C17}" type="presParOf" srcId="{D44C9930-E762-4D1B-8A36-FD0F876B626B}" destId="{AFFA8E6A-4835-4B4F-8DE0-D6BB590272CE}" srcOrd="2" destOrd="0" presId="urn:microsoft.com/office/officeart/2018/2/layout/IconVerticalSolidList"/>
    <dgm:cxn modelId="{EDE1E736-6248-4820-A217-447B743B431C}" type="presParOf" srcId="{D44C9930-E762-4D1B-8A36-FD0F876B626B}" destId="{0AB7128B-48E9-4119-A626-C71243169F41}" srcOrd="3" destOrd="0" presId="urn:microsoft.com/office/officeart/2018/2/layout/IconVerticalSolidList"/>
    <dgm:cxn modelId="{D8FAE530-E2A7-43FE-8EF0-F8DD027E1AA6}" type="presParOf" srcId="{DC0A0DE8-AD28-42E3-A9A2-574AB61E2BD4}" destId="{62064E06-5597-49B5-A792-CDCE9EEE8A42}" srcOrd="3" destOrd="0" presId="urn:microsoft.com/office/officeart/2018/2/layout/IconVerticalSolidList"/>
    <dgm:cxn modelId="{34DC24D9-BC3A-4421-9333-AF5C3228EFFF}" type="presParOf" srcId="{DC0A0DE8-AD28-42E3-A9A2-574AB61E2BD4}" destId="{4E080C24-DD50-4296-996B-C987C6D07A25}" srcOrd="4" destOrd="0" presId="urn:microsoft.com/office/officeart/2018/2/layout/IconVerticalSolidList"/>
    <dgm:cxn modelId="{9D4FE06A-17E5-48D5-B012-5A69FC5EF9C8}" type="presParOf" srcId="{4E080C24-DD50-4296-996B-C987C6D07A25}" destId="{4518D00A-249C-4B06-9A13-F74C08C091DF}" srcOrd="0" destOrd="0" presId="urn:microsoft.com/office/officeart/2018/2/layout/IconVerticalSolidList"/>
    <dgm:cxn modelId="{1696308C-3D36-4ACE-BC96-6012AB10981C}" type="presParOf" srcId="{4E080C24-DD50-4296-996B-C987C6D07A25}" destId="{57A3D039-0FB5-49E4-A27F-6D97F4B0822B}" srcOrd="1" destOrd="0" presId="urn:microsoft.com/office/officeart/2018/2/layout/IconVerticalSolidList"/>
    <dgm:cxn modelId="{66621A61-08B2-44BB-9857-567901A3EBB1}" type="presParOf" srcId="{4E080C24-DD50-4296-996B-C987C6D07A25}" destId="{66615E57-D470-4D74-9780-0CABD4E2AAE1}" srcOrd="2" destOrd="0" presId="urn:microsoft.com/office/officeart/2018/2/layout/IconVerticalSolidList"/>
    <dgm:cxn modelId="{9898770E-C8E6-4916-AD7C-66616F95AF33}" type="presParOf" srcId="{4E080C24-DD50-4296-996B-C987C6D07A25}" destId="{12B77A71-E3CC-460D-9263-917D9F1FF6D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E222B-002E-46AE-B807-BA452BE293AE}">
      <dsp:nvSpPr>
        <dsp:cNvPr id="0" name=""/>
        <dsp:cNvSpPr/>
      </dsp:nvSpPr>
      <dsp:spPr>
        <a:xfrm>
          <a:off x="0" y="55678"/>
          <a:ext cx="10515600" cy="20698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</a:t>
          </a:r>
          <a:r>
            <a:rPr lang="en-US" sz="3700" kern="1200" dirty="0" err="1"/>
            <a:t>Dockerfile</a:t>
          </a:r>
          <a:r>
            <a:rPr lang="en-US" sz="3700" kern="1200" dirty="0"/>
            <a:t> is a text-based document that's used to create a container image.</a:t>
          </a:r>
        </a:p>
      </dsp:txBody>
      <dsp:txXfrm>
        <a:off x="101039" y="156717"/>
        <a:ext cx="10313522" cy="1867725"/>
      </dsp:txXfrm>
    </dsp:sp>
    <dsp:sp modelId="{D521759B-4E6C-4699-A9CA-0377A61E3184}">
      <dsp:nvSpPr>
        <dsp:cNvPr id="0" name=""/>
        <dsp:cNvSpPr/>
      </dsp:nvSpPr>
      <dsp:spPr>
        <a:xfrm>
          <a:off x="0" y="2232042"/>
          <a:ext cx="10515600" cy="206980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It provides instructions to the image builder on the commands to run, files to copy, startup command, and more.</a:t>
          </a:r>
        </a:p>
      </dsp:txBody>
      <dsp:txXfrm>
        <a:off x="101039" y="2333081"/>
        <a:ext cx="10313522" cy="1867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3D106B-3E27-47DA-9223-233D0DC74F46}">
      <dsp:nvSpPr>
        <dsp:cNvPr id="0" name=""/>
        <dsp:cNvSpPr/>
      </dsp:nvSpPr>
      <dsp:spPr>
        <a:xfrm>
          <a:off x="0" y="349"/>
          <a:ext cx="9790963" cy="8188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4B690-8FBB-42B2-B924-01ACE2349B87}">
      <dsp:nvSpPr>
        <dsp:cNvPr id="0" name=""/>
        <dsp:cNvSpPr/>
      </dsp:nvSpPr>
      <dsp:spPr>
        <a:xfrm>
          <a:off x="247692" y="184584"/>
          <a:ext cx="450350" cy="4503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03DE6-2398-46B4-B86C-4C9D430A4685}">
      <dsp:nvSpPr>
        <dsp:cNvPr id="0" name=""/>
        <dsp:cNvSpPr/>
      </dsp:nvSpPr>
      <dsp:spPr>
        <a:xfrm>
          <a:off x="945735" y="349"/>
          <a:ext cx="8845227" cy="818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58" tIns="86658" rIns="86658" bIns="86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</a:t>
          </a:r>
          <a:r>
            <a:rPr lang="en-US" sz="2000" kern="1200" dirty="0" err="1"/>
            <a:t>Dockerfile</a:t>
          </a:r>
          <a:r>
            <a:rPr lang="en-US" sz="2000" kern="1200" dirty="0"/>
            <a:t> contains simple instructions, where each instruction performs a specific action.</a:t>
          </a:r>
        </a:p>
      </dsp:txBody>
      <dsp:txXfrm>
        <a:off x="945735" y="349"/>
        <a:ext cx="8845227" cy="818818"/>
      </dsp:txXfrm>
    </dsp:sp>
    <dsp:sp modelId="{D07470CA-2569-4428-873D-7CB96D9C172E}">
      <dsp:nvSpPr>
        <dsp:cNvPr id="0" name=""/>
        <dsp:cNvSpPr/>
      </dsp:nvSpPr>
      <dsp:spPr>
        <a:xfrm>
          <a:off x="0" y="1023872"/>
          <a:ext cx="9790963" cy="8188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B8928-9971-49D1-897F-7502130F104F}">
      <dsp:nvSpPr>
        <dsp:cNvPr id="0" name=""/>
        <dsp:cNvSpPr/>
      </dsp:nvSpPr>
      <dsp:spPr>
        <a:xfrm>
          <a:off x="247692" y="1208106"/>
          <a:ext cx="450350" cy="4503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B7128B-48E9-4119-A626-C71243169F41}">
      <dsp:nvSpPr>
        <dsp:cNvPr id="0" name=""/>
        <dsp:cNvSpPr/>
      </dsp:nvSpPr>
      <dsp:spPr>
        <a:xfrm>
          <a:off x="945735" y="1023872"/>
          <a:ext cx="8845227" cy="818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58" tIns="86658" rIns="86658" bIns="86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Instructions like FROM, COPY, RUN, and CMD are case-sensitive and written in uppercase.</a:t>
          </a:r>
        </a:p>
      </dsp:txBody>
      <dsp:txXfrm>
        <a:off x="945735" y="1023872"/>
        <a:ext cx="8845227" cy="818818"/>
      </dsp:txXfrm>
    </dsp:sp>
    <dsp:sp modelId="{4518D00A-249C-4B06-9A13-F74C08C091DF}">
      <dsp:nvSpPr>
        <dsp:cNvPr id="0" name=""/>
        <dsp:cNvSpPr/>
      </dsp:nvSpPr>
      <dsp:spPr>
        <a:xfrm>
          <a:off x="0" y="2047395"/>
          <a:ext cx="9790963" cy="8188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3D039-0FB5-49E4-A27F-6D97F4B0822B}">
      <dsp:nvSpPr>
        <dsp:cNvPr id="0" name=""/>
        <dsp:cNvSpPr/>
      </dsp:nvSpPr>
      <dsp:spPr>
        <a:xfrm>
          <a:off x="247692" y="2231629"/>
          <a:ext cx="450350" cy="4503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77A71-E3CC-460D-9263-917D9F1FF6DF}">
      <dsp:nvSpPr>
        <dsp:cNvPr id="0" name=""/>
        <dsp:cNvSpPr/>
      </dsp:nvSpPr>
      <dsp:spPr>
        <a:xfrm>
          <a:off x="945735" y="2047395"/>
          <a:ext cx="8845227" cy="818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58" tIns="86658" rIns="86658" bIns="8665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Each instruction creates a new layer in the Docker image.</a:t>
          </a:r>
        </a:p>
      </dsp:txBody>
      <dsp:txXfrm>
        <a:off x="945735" y="2047395"/>
        <a:ext cx="8845227" cy="81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178C7-1D8F-43A6-88EC-DE533DD30DD6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22142-B02D-435E-A340-54BD780709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7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2233-C7B1-118A-F661-6C74350E1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2FD6B-4240-5735-4054-7087F1E94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79EB2-3AEE-1B94-118B-C68E7001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14DD4-01CE-48B0-B1C7-34A3A052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ECB76-13CD-F8CF-A1EF-7505ABE5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32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64CD-E620-439E-F2AA-F3C555830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89615-4439-8D2A-DD49-BF3C7ED7A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7FE7B-AACF-18E9-9F31-5227F104A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92C3-AD23-DC8A-A909-31AC0462B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F7115-D46E-C2F1-2DBE-79E8CEF3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8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DBFB9-576D-18AC-2623-CBCEA429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55379-B7B2-F5AD-6283-17E47A3D4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FAF90-1E6C-F093-5F76-7A652D6B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E5450-EACB-DD1F-379E-ACECFD65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E42EC-858B-DEFF-133E-18BDD0BC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2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E9A9-E266-415F-DC4B-B8BC817C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4A04-0B9D-F7EC-6231-91B4CC2444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B83A1-4451-0AFE-41D0-B18E49F89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95544-CE18-038B-8A52-4A8B386A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24670-BAEE-B8D9-B4BE-ABBA30F5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BCD7F-BAE2-F27B-3E95-55D6E524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E3C5-D489-ADFC-06C2-7BCB7168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28A82-FCE8-4E37-A749-BB0F75569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97FF0-C320-2631-553C-5704B8091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513EF7-D01E-F8B8-61A4-DC14D9F6B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862C0F-4DA3-D0D8-6316-2FD4F084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6D22B-8F3D-D34F-4870-352C051D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0FA8F-51BB-7C2E-ADC3-90921CAD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858C7-FBA6-0FE8-D806-E68144BC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67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3B8F-5ED5-CCCC-788A-BEFD4052D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DC745-2623-5AAF-2E43-89CFC9F9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B5B03-ABAD-5B6C-DC89-5C133D25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9AC9E-2986-F555-8E81-8E566A66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6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13503-9E6C-E884-9AC7-DEEA13F9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3733B-DC63-4D84-B5F9-CB1D7EDF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0FB6C-AC1B-2D2B-2BD6-F875803C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1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CD40-9942-EECD-BF55-01D0F07E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51D9-4B5F-E294-E28C-CFFEA20B9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8E444-BABF-2E89-E189-7488CF63D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26798-D19D-D8FC-1BD4-6730290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D7CA4-72A3-2019-4DD8-E74281B40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240E9-4AEF-0D93-C1F6-2F36ED7C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0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677F9-FC71-E10F-182D-255B5F65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6B7B00-391E-EFBB-80AC-24A16C3E4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90733-60E4-AA43-1583-B0FD6FF1E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43511-EE0B-9ED5-9C8B-C353DA7D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C5C1B-3F96-6153-E0B6-46BA956D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96162-C884-5C21-C7DC-5BB2B948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9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F63B-DFF9-435C-2EB5-39950D33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7804B-9BD7-6BC0-5895-1CF90BE5F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F127F-5755-45EE-A2A0-20377438A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4195-9E40-E6D3-AC38-576BD74F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06023-235A-3E47-B2CC-793B26C8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7643E-1F28-ED4E-D741-B1CD75F7C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4AF9C-F67B-F45D-FF4C-3206255F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9A27B-1D36-40A8-D980-6EC3F40F2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09F61-D7CC-4F99-A510-5A13440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C9089-4417-DB5B-58CD-42524413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3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901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BDD6F-071E-B55C-6A62-7EF0B4B5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659E1-E6E2-3630-1DE7-E7992A496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9BD8B-3337-3203-2756-34FDF7150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DDD28-6330-4398-9DA1-491DB79E5A9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DDE87-BBAE-6BBA-5EE5-FB0297196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66139-F9F6-173F-1D67-81AD91D0F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CA8B7-CD88-4AAA-AB08-CEC24F7CE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12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0" y="-117035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293" b="76029"/>
          <a:stretch>
            <a:fillRect/>
          </a:stretch>
        </p:blipFill>
        <p:spPr>
          <a:xfrm>
            <a:off x="1" y="117035"/>
            <a:ext cx="2330452" cy="158778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603801" y="2095907"/>
            <a:ext cx="10984398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23sdcs13A/R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CI/CD and Cloud </a:t>
            </a:r>
            <a:r>
              <a:rPr lang="en-US" sz="3200" b="1" cap="all" dirty="0" err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devops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lvl="0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Calibri"/>
              </a:rPr>
              <a:t>Containerize react project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="1" cap="all" dirty="0">
              <a:ln/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Dr. suneetha Bulla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583A3E-2BAD-BB04-8BF4-EC6D4A1DD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225" y="112642"/>
            <a:ext cx="2353365" cy="11357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9EC4-28E4-0669-2B30-B08201C3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algn="ctr"/>
            <a:r>
              <a:rPr lang="en-US" sz="3100" b="1" dirty="0" err="1"/>
              <a:t>Dockerfile</a:t>
            </a:r>
            <a:br>
              <a:rPr lang="en-US" sz="3100" dirty="0"/>
            </a:br>
            <a:endParaRPr lang="en-US" sz="3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2A76C9-57F8-52A8-3FC8-86CA87F2CF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75EC3585-6B10-1041-B9FA-41A428281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8174" y="256032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955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4395-663B-040D-AC66-6C8745B20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Dockerefile</a:t>
            </a:r>
            <a:r>
              <a:rPr lang="en-US" b="1" dirty="0"/>
              <a:t> (Cont..)</a:t>
            </a:r>
            <a:endParaRPr lang="en-US" dirty="0"/>
          </a:p>
        </p:txBody>
      </p:sp>
      <p:pic>
        <p:nvPicPr>
          <p:cNvPr id="4" name="Content Placeholder 3" descr="A black rectangular sign with green text&#10;&#10;AI-generated content may be incorrect.">
            <a:extLst>
              <a:ext uri="{FF2B5EF4-FFF2-40B4-BE49-F238E27FC236}">
                <a16:creationId xmlns:a16="http://schemas.microsoft.com/office/drawing/2014/main" id="{9D41B116-072A-DB82-AFCB-88E813CED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06214"/>
            <a:ext cx="10515600" cy="279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D9A09D5A-8AE7-DCEA-E4D1-4ECA2BE28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8698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CCB7E-BFB1-2787-170C-8F52D237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Components of a </a:t>
            </a:r>
            <a:r>
              <a:rPr lang="en-US" b="1" dirty="0" err="1"/>
              <a:t>Dockerfile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1F3F7-B954-5ECF-3125-EFF6F25F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Base Image:</a:t>
            </a:r>
            <a:r>
              <a:rPr lang="en-US" dirty="0"/>
              <a:t> The starting point for your Docker image. For example, if you're building a Python application, you might start with python:3.9 as your base image.</a:t>
            </a:r>
          </a:p>
          <a:p>
            <a:pPr lvl="0"/>
            <a:r>
              <a:rPr lang="en-US" b="1" dirty="0"/>
              <a:t>Application Code and Dependencies:</a:t>
            </a:r>
            <a:r>
              <a:rPr lang="en-US" dirty="0"/>
              <a:t> The code is added to the image, and dependencies are installed to ensure the application runs correctly.</a:t>
            </a:r>
          </a:p>
          <a:p>
            <a:pPr lvl="0"/>
            <a:r>
              <a:rPr lang="en-US" b="1" dirty="0"/>
              <a:t>Commands and Configurations:</a:t>
            </a:r>
            <a:r>
              <a:rPr lang="en-US" dirty="0"/>
              <a:t> Instructions to execute commands, set environment variables, and expose ports.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9D65886B-4A53-61F2-6F2B-B566622FF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528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57F6-B32C-5805-6246-30F57A61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Basics Syntax of a </a:t>
            </a:r>
            <a:r>
              <a:rPr lang="en-US" b="1" dirty="0" err="1"/>
              <a:t>Dockerfile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FE043B92-B335-03E8-1B4A-867B13F6D66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5359" y="1690688"/>
          <a:ext cx="9790963" cy="2866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36C04D-928A-C9F5-E8AB-DE6E35BCCF39}"/>
              </a:ext>
            </a:extLst>
          </p:cNvPr>
          <p:cNvSpPr txBox="1"/>
          <p:nvPr/>
        </p:nvSpPr>
        <p:spPr>
          <a:xfrm>
            <a:off x="3020960" y="4923215"/>
            <a:ext cx="7332407" cy="15696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FROM ubuntu:20.04</a:t>
            </a:r>
            <a:endParaRPr lang="en-US" sz="2400" dirty="0"/>
          </a:p>
          <a:p>
            <a:r>
              <a:rPr lang="en-US" sz="2400" b="1" dirty="0"/>
              <a:t>COPY . /app</a:t>
            </a:r>
            <a:endParaRPr lang="en-US" sz="2400" dirty="0"/>
          </a:p>
          <a:p>
            <a:r>
              <a:rPr lang="en-US" sz="2400" b="1" dirty="0"/>
              <a:t>RUN apt-get update &amp;&amp; apt-get install -y python3</a:t>
            </a:r>
            <a:endParaRPr lang="en-US" sz="2400" dirty="0"/>
          </a:p>
          <a:p>
            <a:r>
              <a:rPr lang="en-US" sz="2400" b="1" dirty="0"/>
              <a:t>CMD ["python3", "/app/app.py"]</a:t>
            </a:r>
            <a:endParaRPr lang="en-US" sz="2400" dirty="0"/>
          </a:p>
        </p:txBody>
      </p:sp>
      <p:pic>
        <p:nvPicPr>
          <p:cNvPr id="3" name="Picture 2" descr="KL Deemed to be University Logo">
            <a:extLst>
              <a:ext uri="{FF2B5EF4-FFF2-40B4-BE49-F238E27FC236}">
                <a16:creationId xmlns:a16="http://schemas.microsoft.com/office/drawing/2014/main" id="{D7793A2D-94CD-ABC7-27F1-BEE23EDF2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3681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B4C24-00B4-27ED-6CB6-13B69066C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0" y="949321"/>
            <a:ext cx="7556500" cy="1730375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FROM python:3.9</a:t>
            </a:r>
            <a:endParaRPr lang="en-US" dirty="0"/>
          </a:p>
          <a:p>
            <a:pPr lvl="1"/>
            <a:r>
              <a:rPr lang="en-US" dirty="0"/>
              <a:t>Specifies the base image for your build.</a:t>
            </a:r>
          </a:p>
          <a:p>
            <a:pPr lvl="1"/>
            <a:r>
              <a:rPr lang="en-US" dirty="0"/>
              <a:t> A </a:t>
            </a:r>
            <a:r>
              <a:rPr lang="en-US" dirty="0" err="1"/>
              <a:t>Dockerfile</a:t>
            </a:r>
            <a:r>
              <a:rPr lang="en-US" dirty="0"/>
              <a:t> must start with a FROM instruction, except in multi-stage builds.</a:t>
            </a:r>
          </a:p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506C331-C1F5-4B8A-3781-E1E140B5E381}"/>
              </a:ext>
            </a:extLst>
          </p:cNvPr>
          <p:cNvSpPr/>
          <p:nvPr/>
        </p:nvSpPr>
        <p:spPr>
          <a:xfrm>
            <a:off x="2717800" y="1898646"/>
            <a:ext cx="6731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F98E8-74FE-6D23-9B36-355F0A1DBBFA}"/>
              </a:ext>
            </a:extLst>
          </p:cNvPr>
          <p:cNvSpPr txBox="1"/>
          <p:nvPr/>
        </p:nvSpPr>
        <p:spPr>
          <a:xfrm>
            <a:off x="749300" y="1719814"/>
            <a:ext cx="12319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/>
              <a:t>FROM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B523BE-B5FC-4045-BDD8-C6EB070A8803}"/>
              </a:ext>
            </a:extLst>
          </p:cNvPr>
          <p:cNvSpPr txBox="1">
            <a:spLocks/>
          </p:cNvSpPr>
          <p:nvPr/>
        </p:nvSpPr>
        <p:spPr>
          <a:xfrm>
            <a:off x="4000500" y="3242744"/>
            <a:ext cx="7556500" cy="140017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COPY . /app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Copies files or directories from the host system into the container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7CCAFFB-7866-51B0-13DA-6A60AAEA9DF1}"/>
              </a:ext>
            </a:extLst>
          </p:cNvPr>
          <p:cNvSpPr/>
          <p:nvPr/>
        </p:nvSpPr>
        <p:spPr>
          <a:xfrm>
            <a:off x="2717800" y="3853415"/>
            <a:ext cx="673100" cy="1905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4DF9A-8357-D852-717D-355F20D2F5AA}"/>
              </a:ext>
            </a:extLst>
          </p:cNvPr>
          <p:cNvSpPr txBox="1"/>
          <p:nvPr/>
        </p:nvSpPr>
        <p:spPr>
          <a:xfrm>
            <a:off x="749300" y="3853415"/>
            <a:ext cx="12319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COPY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0782B3E-8F8D-334F-8FD6-AF9CD0FD3A29}"/>
              </a:ext>
            </a:extLst>
          </p:cNvPr>
          <p:cNvSpPr txBox="1">
            <a:spLocks/>
          </p:cNvSpPr>
          <p:nvPr/>
        </p:nvSpPr>
        <p:spPr>
          <a:xfrm>
            <a:off x="4000500" y="4952997"/>
            <a:ext cx="7556500" cy="140017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RUN apt-get update &amp;&amp; apt-get install -y curl</a:t>
            </a:r>
          </a:p>
          <a:p>
            <a:pPr lvl="1"/>
            <a:r>
              <a:rPr lang="en-US" dirty="0"/>
              <a:t>Executes commands during the build process. Often used to install packages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3041C75-FB90-0F7B-1348-6D85548B12E4}"/>
              </a:ext>
            </a:extLst>
          </p:cNvPr>
          <p:cNvSpPr/>
          <p:nvPr/>
        </p:nvSpPr>
        <p:spPr>
          <a:xfrm>
            <a:off x="2717800" y="5617684"/>
            <a:ext cx="673100" cy="1905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3CB43-83CE-E917-36BB-4EF480B76738}"/>
              </a:ext>
            </a:extLst>
          </p:cNvPr>
          <p:cNvSpPr txBox="1"/>
          <p:nvPr/>
        </p:nvSpPr>
        <p:spPr>
          <a:xfrm>
            <a:off x="749300" y="5563668"/>
            <a:ext cx="12319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RUN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654A709A-59B4-E23A-74EB-BCDDFA3E4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1218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68B1C8-D4CB-1894-7BFE-F03843BEC277}"/>
              </a:ext>
            </a:extLst>
          </p:cNvPr>
          <p:cNvSpPr txBox="1">
            <a:spLocks/>
          </p:cNvSpPr>
          <p:nvPr/>
        </p:nvSpPr>
        <p:spPr>
          <a:xfrm>
            <a:off x="3886200" y="1392288"/>
            <a:ext cx="7556500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CMD ["python3", "app.py"]</a:t>
            </a:r>
          </a:p>
          <a:p>
            <a:pPr lvl="1"/>
            <a:r>
              <a:rPr lang="en-US" dirty="0"/>
              <a:t>Specifies the default command to run when the container starts.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2114CC7-A7FC-52FA-3D81-93E476AB6CFC}"/>
              </a:ext>
            </a:extLst>
          </p:cNvPr>
          <p:cNvSpPr/>
          <p:nvPr/>
        </p:nvSpPr>
        <p:spPr>
          <a:xfrm>
            <a:off x="2717800" y="2001888"/>
            <a:ext cx="673100" cy="190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5BD18-CBA3-9FD3-A7E9-E551448AB685}"/>
              </a:ext>
            </a:extLst>
          </p:cNvPr>
          <p:cNvSpPr txBox="1"/>
          <p:nvPr/>
        </p:nvSpPr>
        <p:spPr>
          <a:xfrm>
            <a:off x="749300" y="1912472"/>
            <a:ext cx="1231900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/>
              <a:t>CMD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0FDC55-A1E1-F5BB-A2DA-70EE317B5A3D}"/>
              </a:ext>
            </a:extLst>
          </p:cNvPr>
          <p:cNvSpPr txBox="1">
            <a:spLocks/>
          </p:cNvSpPr>
          <p:nvPr/>
        </p:nvSpPr>
        <p:spPr>
          <a:xfrm>
            <a:off x="4000500" y="3427066"/>
            <a:ext cx="7556500" cy="11247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WORKDIR /</a:t>
            </a:r>
            <a:r>
              <a:rPr lang="en-US" b="1" dirty="0" err="1">
                <a:solidFill>
                  <a:schemeClr val="tx1"/>
                </a:solidFill>
              </a:rPr>
              <a:t>usr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en-US" b="1" dirty="0" err="1">
                <a:solidFill>
                  <a:schemeClr val="tx1"/>
                </a:solidFill>
              </a:rPr>
              <a:t>src</a:t>
            </a:r>
            <a:r>
              <a:rPr lang="en-US" b="1" dirty="0">
                <a:solidFill>
                  <a:schemeClr val="tx1"/>
                </a:solidFill>
              </a:rPr>
              <a:t>/app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Sets the working directory inside the container.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FAB1FB-9DEC-48F2-2292-F6D8D64009E1}"/>
              </a:ext>
            </a:extLst>
          </p:cNvPr>
          <p:cNvSpPr/>
          <p:nvPr/>
        </p:nvSpPr>
        <p:spPr>
          <a:xfrm>
            <a:off x="2717800" y="3956657"/>
            <a:ext cx="673100" cy="1905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B0927-0F1E-0E41-F522-7431CF926806}"/>
              </a:ext>
            </a:extLst>
          </p:cNvPr>
          <p:cNvSpPr txBox="1"/>
          <p:nvPr/>
        </p:nvSpPr>
        <p:spPr>
          <a:xfrm>
            <a:off x="749300" y="3956657"/>
            <a:ext cx="12319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WORKDIR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3A9FEB-2C70-DC11-554E-958B47D3193A}"/>
              </a:ext>
            </a:extLst>
          </p:cNvPr>
          <p:cNvSpPr txBox="1">
            <a:spLocks/>
          </p:cNvSpPr>
          <p:nvPr/>
        </p:nvSpPr>
        <p:spPr>
          <a:xfrm>
            <a:off x="4000500" y="5206576"/>
            <a:ext cx="7556500" cy="12191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EXPOSE 8080	</a:t>
            </a:r>
          </a:p>
          <a:p>
            <a:pPr lvl="1"/>
            <a:r>
              <a:rPr lang="en-US" b="1" dirty="0"/>
              <a:t>Documents the port the container listens on.</a:t>
            </a: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0BE65A-811A-6C53-9830-5514D74D5108}"/>
              </a:ext>
            </a:extLst>
          </p:cNvPr>
          <p:cNvSpPr/>
          <p:nvPr/>
        </p:nvSpPr>
        <p:spPr>
          <a:xfrm>
            <a:off x="2717800" y="5720926"/>
            <a:ext cx="673100" cy="190500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AE40AE-4A49-A501-E042-9098D9E25570}"/>
              </a:ext>
            </a:extLst>
          </p:cNvPr>
          <p:cNvSpPr txBox="1"/>
          <p:nvPr/>
        </p:nvSpPr>
        <p:spPr>
          <a:xfrm>
            <a:off x="749300" y="5666910"/>
            <a:ext cx="12319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dirty="0"/>
              <a:t>EXPOSE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ECBA0DB4-3492-392C-4428-A0F82F77E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734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F247-24A3-276A-BC72-B09862D9C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600" y="2927618"/>
            <a:ext cx="8178800" cy="501382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Create Docker file to containerize the react project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77421177-B897-47DB-1E24-34589F513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93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716B-0ECB-EBB9-6747-04180177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A6FE7-BA78-784D-5073-0C8A85BF5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node:20</a:t>
            </a:r>
          </a:p>
          <a:p>
            <a:pPr marL="0" indent="0">
              <a:buNone/>
            </a:pPr>
            <a:r>
              <a:rPr lang="en-US" dirty="0"/>
              <a:t>WORKDIR /app</a:t>
            </a:r>
          </a:p>
          <a:p>
            <a:pPr marL="0" indent="0">
              <a:buNone/>
            </a:pPr>
            <a:r>
              <a:rPr lang="en-US" dirty="0"/>
              <a:t>COPY package*.</a:t>
            </a:r>
            <a:r>
              <a:rPr lang="en-US" dirty="0" err="1"/>
              <a:t>json</a:t>
            </a:r>
            <a:r>
              <a:rPr lang="en-US" dirty="0"/>
              <a:t> ./</a:t>
            </a:r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marL="0" indent="0">
              <a:buNone/>
            </a:pPr>
            <a:r>
              <a:rPr lang="en-US" dirty="0"/>
              <a:t>COPY . .</a:t>
            </a:r>
          </a:p>
          <a:p>
            <a:pPr marL="0" indent="0">
              <a:buNone/>
            </a:pPr>
            <a:r>
              <a:rPr lang="en-US" dirty="0"/>
              <a:t>EXPOSE 5173</a:t>
            </a:r>
          </a:p>
          <a:p>
            <a:pPr marL="0" indent="0">
              <a:buNone/>
            </a:pPr>
            <a:r>
              <a:rPr lang="en-US" dirty="0"/>
              <a:t>CMD ["</a:t>
            </a:r>
            <a:r>
              <a:rPr lang="en-US" dirty="0" err="1"/>
              <a:t>npm</a:t>
            </a:r>
            <a:r>
              <a:rPr lang="en-US" dirty="0"/>
              <a:t>", "run", "dev"]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62947AC4-E9EA-6626-ACBE-B586DFD7D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603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5D7A-5DC9-62A9-C1E0-91F4CF8D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Dockerfile</a:t>
            </a:r>
            <a:r>
              <a:rPr lang="en-US" dirty="0"/>
              <a:t> Running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36A2-28AC-E2BF-4BD6-9CF9D2D6C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build -t my-</a:t>
            </a:r>
            <a:r>
              <a:rPr lang="en-US" dirty="0" err="1"/>
              <a:t>firstapp</a:t>
            </a:r>
            <a:r>
              <a:rPr lang="en-US" dirty="0"/>
              <a:t> .</a:t>
            </a:r>
          </a:p>
          <a:p>
            <a:r>
              <a:rPr lang="en-US" dirty="0"/>
              <a:t>docker run -p 5173:5173 my-</a:t>
            </a:r>
            <a:r>
              <a:rPr lang="en-US" dirty="0" err="1"/>
              <a:t>firstapp</a:t>
            </a:r>
            <a:r>
              <a:rPr lang="en-US" dirty="0"/>
              <a:t> </a:t>
            </a:r>
          </a:p>
          <a:p>
            <a:r>
              <a:rPr lang="en-US" dirty="0"/>
              <a:t>docker run -p 5173:5173 my-</a:t>
            </a:r>
            <a:r>
              <a:rPr lang="en-US" dirty="0" err="1"/>
              <a:t>firstapp</a:t>
            </a:r>
            <a:r>
              <a:rPr lang="en-US" dirty="0"/>
              <a:t> </a:t>
            </a:r>
            <a:r>
              <a:rPr lang="en-US" dirty="0" err="1"/>
              <a:t>npm</a:t>
            </a:r>
            <a:r>
              <a:rPr lang="en-US" dirty="0"/>
              <a:t> run dev -- --host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DA8C62B9-88E9-8411-E122-0760644C2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0728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1985-5F0E-229C-2834-9BE016B48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8130" y="162754"/>
            <a:ext cx="8074815" cy="1292031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Multi-Stage </a:t>
            </a:r>
            <a:r>
              <a:rPr lang="en-US" sz="4000" b="1" dirty="0" err="1"/>
              <a:t>Dockerfile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A2BBF-8211-953B-8C8A-A547D7BE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454785"/>
            <a:ext cx="9550400" cy="4315080"/>
          </a:xfrm>
        </p:spPr>
        <p:txBody>
          <a:bodyPr anchor="t">
            <a:normAutofit/>
          </a:bodyPr>
          <a:lstStyle/>
          <a:p>
            <a:r>
              <a:rPr lang="en-US" sz="2400" dirty="0"/>
              <a:t>Multi-stage builds allow you to create lean production images by separating the build and runtime environments.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Stage 1 (Builder/Development): Install dependencies, compile code, and build the application.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Stage 2 (Production): Copy only the necessary files from the build stage.</a:t>
            </a:r>
          </a:p>
          <a:p>
            <a:endParaRPr lang="en-US" sz="2400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EDBDBEA-F8C2-FF34-95E9-BF54564EC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843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B3F0-C1AB-8709-C2DE-0FBA2B84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Distroless</a:t>
            </a:r>
            <a:r>
              <a:rPr lang="en-US" b="1" dirty="0"/>
              <a:t> Images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B5336-F99C-549C-06CA-C5AA7808E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err="1"/>
              <a:t>Distroless</a:t>
            </a:r>
            <a:r>
              <a:rPr lang="en-US" dirty="0"/>
              <a:t> images are minimalistic and purpose-built, containing only the essential components to run an application. This approach significantly reduces the attack surface and minimizes the image size, enhancing security and efficiency.</a:t>
            </a:r>
          </a:p>
          <a:p>
            <a:pPr algn="just"/>
            <a:endParaRPr lang="en-US" dirty="0"/>
          </a:p>
          <a:p>
            <a:pPr lvl="0" algn="just"/>
            <a:r>
              <a:rPr lang="en-US" dirty="0"/>
              <a:t>Smaller Image Size: </a:t>
            </a:r>
            <a:r>
              <a:rPr lang="en-US" dirty="0" err="1"/>
              <a:t>Distroless</a:t>
            </a:r>
            <a:r>
              <a:rPr lang="en-US" dirty="0"/>
              <a:t> images exclude unnecessary components, resulting in smaller images.</a:t>
            </a:r>
          </a:p>
          <a:p>
            <a:pPr lvl="0" algn="just"/>
            <a:endParaRPr lang="en-US" dirty="0"/>
          </a:p>
          <a:p>
            <a:pPr lvl="0" algn="just"/>
            <a:r>
              <a:rPr lang="en-US" dirty="0"/>
              <a:t>Enhanced Security: By minimizing the attack surface, </a:t>
            </a:r>
            <a:r>
              <a:rPr lang="en-US" dirty="0" err="1"/>
              <a:t>distroless</a:t>
            </a:r>
            <a:r>
              <a:rPr lang="en-US" dirty="0"/>
              <a:t> images improve security.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F5F89721-E2E2-12C4-AFDE-2D13F7096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413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DC77-1A1A-3CC1-1DC2-C8B037E42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219" y="309716"/>
            <a:ext cx="7907593" cy="6238567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 Stage 1: Build the application</a:t>
            </a:r>
          </a:p>
          <a:p>
            <a:pPr marL="0" indent="0">
              <a:buNone/>
            </a:pPr>
            <a:r>
              <a:rPr lang="en-US" dirty="0"/>
              <a:t>FROM node:16 AS builder</a:t>
            </a:r>
          </a:p>
          <a:p>
            <a:pPr marL="0" indent="0">
              <a:buNone/>
            </a:pPr>
            <a:r>
              <a:rPr lang="en-US" dirty="0"/>
              <a:t>WORKDIR /app</a:t>
            </a:r>
          </a:p>
          <a:p>
            <a:pPr marL="0" indent="0">
              <a:buNone/>
            </a:pPr>
            <a:r>
              <a:rPr lang="en-US" dirty="0"/>
              <a:t>COPY </a:t>
            </a:r>
            <a:r>
              <a:rPr lang="en-US" dirty="0" err="1"/>
              <a:t>package.json</a:t>
            </a:r>
            <a:r>
              <a:rPr lang="en-US" dirty="0"/>
              <a:t> .</a:t>
            </a:r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marL="0" indent="0">
              <a:buNone/>
            </a:pPr>
            <a:r>
              <a:rPr lang="en-US" dirty="0"/>
              <a:t>COPY . .</a:t>
            </a:r>
          </a:p>
          <a:p>
            <a:pPr marL="0" indent="0">
              <a:buNone/>
            </a:pPr>
            <a:r>
              <a:rPr lang="en-US" dirty="0"/>
              <a:t>RUN </a:t>
            </a:r>
            <a:r>
              <a:rPr lang="en-US" dirty="0" err="1"/>
              <a:t>npm</a:t>
            </a:r>
            <a:r>
              <a:rPr lang="en-US" dirty="0"/>
              <a:t> run build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# Stage 2: Run the application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nginx:alpine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COPY --from=builder /app/build /</a:t>
            </a:r>
            <a:r>
              <a:rPr lang="en-US" dirty="0" err="1"/>
              <a:t>usr</a:t>
            </a:r>
            <a:r>
              <a:rPr lang="en-US" dirty="0"/>
              <a:t>/share/nginx/html</a:t>
            </a:r>
          </a:p>
          <a:p>
            <a:pPr marL="0" indent="0">
              <a:buNone/>
            </a:pPr>
            <a:r>
              <a:rPr lang="en-US" dirty="0"/>
              <a:t>EXPOSE 80</a:t>
            </a:r>
          </a:p>
          <a:p>
            <a:pPr marL="0" indent="0">
              <a:buNone/>
            </a:pPr>
            <a:r>
              <a:rPr lang="en-US" dirty="0"/>
              <a:t>CMD ["nginx", "-g", "daemon off;"]</a:t>
            </a:r>
          </a:p>
          <a:p>
            <a:endParaRPr lang="en-US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8033D68C-66D9-3779-D319-EBF3AD35F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7480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27E5-4BBA-AE9A-D151-3B806EBBC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C1753-E4FE-FFBA-819C-B51C25C11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5" y="3027106"/>
            <a:ext cx="10397613" cy="803787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Single-Stage </a:t>
            </a:r>
            <a:r>
              <a:rPr lang="en-US" b="1" dirty="0" err="1"/>
              <a:t>Dockerfile</a:t>
            </a:r>
            <a:r>
              <a:rPr lang="en-US" b="1" dirty="0"/>
              <a:t> to containerize the react project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BA4A6E7B-F95B-D7D3-6861-44481BCF9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16275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0007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599</Words>
  <Application>Microsoft Office PowerPoint</Application>
  <PresentationFormat>Widescreen</PresentationFormat>
  <Paragraphs>81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BioRhyme ExtraBold</vt:lpstr>
      <vt:lpstr>Calibri</vt:lpstr>
      <vt:lpstr>Poppins</vt:lpstr>
      <vt:lpstr>Office Theme</vt:lpstr>
      <vt:lpstr>PowerPoint Presentation</vt:lpstr>
      <vt:lpstr>Dockerfile </vt:lpstr>
      <vt:lpstr>Dockerefile (Cont..)</vt:lpstr>
      <vt:lpstr>Key Components of a Dockerfile: </vt:lpstr>
      <vt:lpstr>Basics Syntax of a Dockerfile </vt:lpstr>
      <vt:lpstr>PowerPoint Presentation</vt:lpstr>
      <vt:lpstr>PowerPoint Presentation</vt:lpstr>
      <vt:lpstr>PowerPoint Presentation</vt:lpstr>
      <vt:lpstr>DockerFile</vt:lpstr>
      <vt:lpstr>Dockerfile Running Commands</vt:lpstr>
      <vt:lpstr>Multi-Stage Dockerfile</vt:lpstr>
      <vt:lpstr>Distroless Images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Suneetha Bulla</dc:creator>
  <cp:lastModifiedBy>Dr Suneetha Bulla</cp:lastModifiedBy>
  <cp:revision>6</cp:revision>
  <dcterms:created xsi:type="dcterms:W3CDTF">2025-07-23T06:22:28Z</dcterms:created>
  <dcterms:modified xsi:type="dcterms:W3CDTF">2025-07-30T16:18:15Z</dcterms:modified>
</cp:coreProperties>
</file>